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всіх. Сьогодні знайомимось із Docker — не щоб зробити з вас експертів за одне заняття, а щоб побудувати просту й правильну ментальну модель. Спочатку теорія хвилин на 25-30, потім я покажу живу практику: підніму реальний маленький проєкт із двох сервісів однією командою. Питання можна ставити по ходу.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 проста: після заняття ви зможете взяти свій проєкт, покласти його в контейнер і підняти кілька сервісів однією командою. План на чотири блоки: спершу — навіщо Docker взагалі потрібен; потім будівельні блоки — image, container, Dockerfile, registry; далі — як це запускати: порти, команди, env, дані; і фінал — Docker Compose, коли сервісів більше одного. Ще раз наголошую: ціль не завантажити вас, а дати каркас, на який ви потім самі нанизаєте деталі.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Знайома історія: ви написали код, у вас усе працює. Передаєте колезі — падає. У нього інша версія Node, інша ОС, інші глобально встановлені пакети. Залежності й конфіги розповзаються між машинами, і онбординг нового розробника перетворюється на квест «чому у мене не запускається». Docker вирішує саме це — він про повторюваність. Один і той самий запуск локально, у колеги, на CI і на проді. Запам’ятайте це слово — повторюваність — воно ключове на все заняття.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Контейнер — це не повноцінна віртуальна машина, і це найважливіше не переплутати. Це просто ізольований процес, якому дали власну файлову систему й власну мережу. Ключова відмінність від VM: контейнер ділить ядро операційної системи з хостом і не тягне цілу гостьову ОС. Тому він стартує за секунди й легко перестворюється, тоді як віртуалка важча — у неї всередині повноцінна ОС зі своїм ядром. Для розробника контейнер — це спосіб запакувати застосунок разом з його оточенням, щоб він скрізь бачив однакове навколо себе.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Дві головні сутності. Image — це шаблон, зліпок вашого застосунку, і він immutable: ми його не редагуємо, а якщо треба зміни — будуємо новий образ з новим тегом. Container — це запущений екземпляр образу, з тонким writable-шаром зверху; цей шар тимчасовий: прибрали контейнер — дані з нього зникли, якщо ви не винесли їх у volume. З одного образу можна підняти скільки завгодно контейнерів — звідси й масштабування, і повторюваність. Праворуч — важлива деталь: образ складається зі стеку шарів, кожна інструкція в Dockerfile додає шар, і однакові шари кешуються та переюзаються. Це ми зараз побачимо на Dockerfile.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Registry — це як npm, тільки для контейнерів. Найпопулярніший — Docker Hub, ще є GHCR у GitHub, GitLab Registry, хмарні ECR/GCR/ACR. Звідти ми беремо офіційні базові образи: node, nginx, postgres, alpine і так далі. Тепер найважливіше про теги: latest — це НЕ «остання стабільна версія», це просто alias, який сьогодні вказує на один образ, а завтра на інший. Якщо ви пишете node:latest, то одного дня збірка на CI або в колеги раптово зламається без жодних змін у вашому коді. Тому правило: завжди пінимо конкретну версію — node:20-alpine замість node:latest. Це одна з тих звичок, що відрізняє новачка від людини, якій довіряють прод.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Dockerfile — це рецепт, за яким збирається образ. Читаємо згори вниз. FROM — беремо базовий образ, тут node 20 на alpine. WORKDIR — задаємо робочу папку всередині контейнера. Далі маленький, але важливий трюк: ми спершу копіюємо тільки package.json і робимо npm ci, і лише потім копіюємо весь код. Навіщо? Бо кожна інструкція — це шар, який кешується. Поки залежності не змінились, Docker бере встановлені пакети з кешу й не переставляє їх при кожній зміні коду — збірка стає в рази швидшою. CMD — команда, яка запускає застосунок при старті контейнера. Оцих п’яти рядків достатньо, щоб запакувати типовий Node-сервіс.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створює власну ізольовану мережу для контейнерів. Уявіть: ваш сервіс усередині слухає порт 3001, він працює — але ви відкриваєте localhost:3001 у браузері й нічого. Чому? Бо зовні цей порт не проброшений. Щоб потрапити всередину, при запуску пишемо -p і мапимо порт хоста на порт контейнера: -p 3001:3001. Ліве число — порт на вашій машині, праве — порт усередині контейнера; вони не зобов’язані збігатися. Плутанина localhost проти внутрішньої адреси та забутий -p — це буквально топ причина, чому люди кажуть «у мене Docker не працює». Запам’ятайте цей момент.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Ось мінімальний набір, якого вистачає на відсотків вісімдесят щоденних задач. docker build — зібрати образ з Dockerfile, -t дає йому ім’я і тег. docker run — запустити контейнер; --rm зручний для демо, бо автоматично прибирає контейнер після зупинки. docker ps — подивитись, які контейнери зараз працюють. docker logs -f — дивитись логи в реальному часі; підкреслю окремо — це ваш головний інструмент дебагу, привчайтесь заглядати сюди першою чергою. І docker exec -it ... sh — зайти всередину працюючого контейнера, як по ssh, щоб подивитись, що там насправді. Запам’ятайте ці п’ять — build, run, ps, logs, exec.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Env-змінні — стандартний спосіб конфігурувати контейнер, щоб не хардкодити токени й адреси в код. Передати можна поштучно через -e KEY=value або цілим файлом через --env-file .env. Тут є важливий нюанс, на якому спотикаються. Для бекенду env читається в runtime — тобто process.env працює під час роботи контейнера, усе просто. А от фронтенд, наприклад на Vite чи Create React App, часто підставляє env на етапі збірки, на build-step, а не під час запуску. Це означає: якщо ви передасте змінну в docker run уже зібраному фронту — вона не підхопиться, бо її треба було передати під час build. Тримайте це в голові, бо помилка неочевидна.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Пам’ятаємо: контейнер одноразовий, його writable-шар зникає разом із ним. Значить, якщо ви підняли базу даних у контейнері без volume і перестворили контейнер — усі дані пропали. Volume — це спосіб винести дані назовні, щоб вони жили окремо від контейнера. Є два типи. Named volume — сховищем керує сам Docker; це стандарт для баз даних, особливо в проді. Bind mount — ви монтуєте конкретну папку з хоста всередину контейнера; зручно в розробці, коли хочете, щоб зміни коду одразу підхоплювались. Головне правило на прод: для БД майже завжди або volume, або взагалі managed-база поза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Досі ми запускали один контейнер. Але реальний проєкт — це майже завжди кілька сервісів: фронтенд, бекенд, база даних, а часто ще nginx, redis, черга. Уявіть, що кожен із них ви піднімаєте окремою командою docker run: треба вручну стежити за портами, передавати купу env, пам’ятати порядок запуску — база має піднятись раніше за бекенд, і так далі. Це швидко перетворюється на хаос і помилки. Потрібен простий оркестратор, який опише всю систему в одному місці й підніме її разом. Саме тут заходить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— це мінімальний оркестратор. Замість купи команд ви описуєте всю систему в одному YAML-файлі: які є сервіси, з чого вони збираються, які порти, які env, які мережі. Ось приклад: два сервіси — api і web, у кожного свій build, свої порти й змінні. І далі магія: одна команда docker compose up піднімає весь проєкт разом, у правильному порядку. Ви отримуєте вбудовану мережу між сервісами, керування залежностями й ту саму повторюваність — колега робить git clone, пише compose up і в нього піднімається рівно те саме, що у вас. Це те, що ви щодня бачитимете в реальних репозиторіях.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Ще одна зручність Compose — внутрішня мережа з DNS. Усі сервіси з одного compose-файлу автоматично потрапляють в одну мережу й бачать одне одного за іменем сервісу. Тобто фронтенд звертається до бекенду не за якимось IP, а просто http://backend:3001 — де backend це назва сервісу в YAML. Ніяких ручних IP-адрес, які змінюються при кожному перезапуску. А от ззовні, з вашого браузера, ви заходите вже через localhost і проброшений порт. Тут ховається класична помилка новачків: усередині треба звертатись по імені сервісу, а не по localhost — про це ще скажу в кінці.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про те, чим Docker відрізняється від віртуалки й де він взагалі запускається. Контейнери ділять ядро з хостом — тому на Linux Docker працює нативно й максимально швидко. На Windows і macOS свого Linux-ядра немає, тож Docker Desktop піднімає легку віртуалку через WSL2 або аналог; звідси інколи повільніша файлова система й дрібні нюанси. Про образи ОС: Linux-образ потребує Linux-ядра — це основний сценарій. Windows-контейнери реально існують, але вимагають Windows-ядра. А от macOS як контейнер запустити не вийде — Apple не надає ядро для такого. Практичний висновок: у 99% випадків ви працюєте з Linux-контейнерами, і це нормально. VM ж потрібна, коли треба зовсім інше ядро або жорстка ізоляція.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Щоб не було завищених очікувань. Docker робить запуск повторюваним — і на цьому його суперсила закінчується. Він не виправляє ваші баги, не полагодить погану архітектуру й не зробить застосунок безпечним автоматично. Він не заміняє CI/CD, моніторинг чи повноцінний production-оркестратор типу Kubernetes — Compose для цього замалий. І чесно: іноді Docker зайвий. Якщо у вас маленький скрипт без залежностей — контейнеризувати його означає лише додати собі складності. Docker — це інструмент під конкретну задачу повторюваного запуску, а не срібна куля на все.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демо — карта граблів, на які ви наступите першими. Перше: плутанина портів, host проти container, ми про це говорили — забутий або переплутаний -p. Друге: неправильний URL між сервісами; усередині Compose треба звертатись по імені сервісу, backend, а не localhost — це найчастіша помилка. Третє: env не в той момент — фронтенд-змінні часто потрібні на build-time, а не в runtime. Четверте, і майже філософське: люди не дивляться в logs, а потім гадають, що зламалось. Привчайтесь: щось не працює — перше, що робите, це docker logs. Насправді відсотків дев’яносто усіх проблем з Docker зводяться саме до цих чотирьох речей: порти, мережа, env і дебаг через логи.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від теорії до практики. Зараз я покажу мінімальну систему, дуже схожу на те, що ви побачите в реальному проєкті. Два сервіси: фронтенд на React і бекенд-API на Express, обидва в контейнерах. API перевіряє token, який приходить через env-змінну — застосуємо те, що щойно проговорили. Підіймати все буду однією командою docker compose up. І зверніть увагу під час демо на головне: як UI звертається до API по імені сервісу через внутрішню мережу Compose, а не по якомусь IP. Дивіться на порти, на env і на логи — усе, про що ми говорили, зараз оживе на екрані.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Збираємо всю картину в одну лінію. Dockerfile описує, як зібрати образ — build дає нам image. Далі run запускає з образу контейнер, додаємо порти й env — отримуємо працюючий сервіс. А коли сервісів багато, Compose і команда up піднімають їх як єдину систему. Оце і є ваша ментальна модель: Dockerfile → image → container → система. Усе решта — деталі, які ви наростите з практикою. А тепер закриваємо слайди й переходимо до живого запуску — подивимось, як усе це працює руками. Якщо є питання по теорії — саме 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Дякую за увагу. Якщо є питання по теорії — задавайте зараз, бо далі руки будуть у терміналі. Погнали до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7589520" y="1371600"/>
            <a:ext cx="475488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234440"/>
            <a:ext cx="1371600" cy="1371600"/>
          </a:xfrm>
          <a:prstGeom prst="roundRect">
            <a:avLst>
              <a:gd name="adj" fmla="val 14667"/>
            </a:avLst>
          </a:prstGeom>
          <a:solidFill>
            <a:srgbClr val="2496ED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472184"/>
            <a:ext cx="896112" cy="896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86384" y="3246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Вступ у сучасний Docker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82296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контейнера до Docker Compose — проста ментальна модель для розробника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Лекція</a:t>
            </a:r>
            <a:pPr indent="0" marL="0">
              <a:buNone/>
            </a:pPr>
            <a:r>
              <a:rPr lang="en-US" sz="15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 практика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ЩО МИ СЬОГОДНІ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 заняття та план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заняття ти зможеш </a:t>
            </a:r>
            <a:pPr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запакувати свій проєкт у контейнер</a:t>
            </a:r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підняти кілька сервісів </a:t>
            </a:r>
            <a:pPr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однією командою</a:t>
            </a:r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51460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788920"/>
            <a:ext cx="640080" cy="64008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786384" y="35661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Docker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86384" y="405079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«works on my machine» і повторюваність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37560" y="251460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93592" y="2788920"/>
            <a:ext cx="640080" cy="64008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3593592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575304" y="35661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Будівельні блоки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75304" y="405079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container, Dockerfile, registry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26480" y="251460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82512" y="2788920"/>
            <a:ext cx="640080" cy="64008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0" name="Text 16"/>
          <p:cNvSpPr/>
          <p:nvPr/>
        </p:nvSpPr>
        <p:spPr>
          <a:xfrm>
            <a:off x="6382512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364224" y="35661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364224" y="405079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порти, команди, env, volumes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915400" y="251460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171432" y="2788920"/>
            <a:ext cx="640080" cy="64008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5" name="Text 21"/>
          <p:cNvSpPr/>
          <p:nvPr/>
        </p:nvSpPr>
        <p:spPr>
          <a:xfrm>
            <a:off x="9171432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9153144" y="35661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9153144" y="405079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сервісів як одна система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робимо з вас Docker-експертів — будуємо просту ментальну модель, щоб далі розібратись самому.</a:t>
            </a:r>
            <a:endParaRPr lang="en-US" sz="13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DOCKER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«works on my machine»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0020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99796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00200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Різне оточення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різні версії Node / npm / ОС дають різний результат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761488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159252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761488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Залежності «розповзаються»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конфіги й пакети відрізняються між машинами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922776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320540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3922776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Боляче на онбордингу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мене працює, а в тебе ні» з’їдає години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269480" y="1600200"/>
            <a:ext cx="4343400" cy="3246120"/>
          </a:xfrm>
          <a:prstGeom prst="roundRect">
            <a:avLst>
              <a:gd name="adj" fmla="val 3380"/>
            </a:avLst>
          </a:prstGeom>
          <a:solidFill>
            <a:srgbClr val="0A1E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874520"/>
            <a:ext cx="1417320" cy="1417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0" y="32918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— це про ПОВТОРЮВАНІСТЬ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498080" y="38862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 той самий запуск локально, у колеги, на CI і на сервері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БУДІВЕЛЬНІ БЛОКИ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контейнер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0020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99796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0020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=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ізольований процес + власна файлова система + мережа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761488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159252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76148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НЕ віртуальна машина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ділить kernel з хостом, тож стартує за секунди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922776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320540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3922776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Стандартне оточення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застосунок скрізь бачить те саме навколо себе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223760" y="169164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F5F8FC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52360" y="19659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496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212140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1947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8200" y="23134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+ свій FS/мережа, спільний kernel, легкий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223760" y="329184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2360" y="35661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5B6B7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3721608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5820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Віртуалка (VM)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458200" y="39136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гостьова ОС зі своїм kernel, важча</a:t>
            </a:r>
            <a:endParaRPr lang="en-US" sz="12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БУДІВЕЛЬНІ БЛОКИ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та Container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00200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18745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496ED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29968"/>
            <a:ext cx="512064" cy="5120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822960" y="32004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/ зліпок застосунку. Immutable — не редагуємо, а будуємо новий tag.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611880" y="1600200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886200" y="18745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A1E3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2029968"/>
            <a:ext cx="512064" cy="5120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8620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3886200" y="32004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Запущений екземпляр image + тонкий writable layer зверху. Тимчасовий.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48640" y="4434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image  →  багато containers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720840" y="1600200"/>
            <a:ext cx="4892040" cy="3291840"/>
          </a:xfrm>
          <a:prstGeom prst="roundRect">
            <a:avLst>
              <a:gd name="adj" fmla="val 3333"/>
            </a:avLst>
          </a:prstGeom>
          <a:solidFill>
            <a:srgbClr val="0A1E3F"/>
          </a:solidFill>
          <a:ln/>
        </p:spPr>
      </p:sp>
      <p:sp>
        <p:nvSpPr>
          <p:cNvPr id="19" name="Text 13"/>
          <p:cNvSpPr/>
          <p:nvPr/>
        </p:nvSpPr>
        <p:spPr>
          <a:xfrm>
            <a:off x="69494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стек шарів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949440" y="2148840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0B2A57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086600" y="21488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  (container)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949440" y="2660904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12315F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086600" y="26609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949440" y="3172968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12315F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086600" y="31729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i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949440" y="3685032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12315F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086600" y="36850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949440" y="4197096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12315F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86600" y="419709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720840" y="46177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Спільні шари кешуються й переюзаються між образами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БУДІВЕЛЬНІ БЛОКИ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Registries та теги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00200"/>
            <a:ext cx="6263640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984248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00200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«npm для контейнерів»: Docker Hub, GHCR, GitLab, ECR/GCR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715768"/>
            <a:ext cx="6263640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099816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715768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images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ubuntu, debian, alpine, node, nginx, postgres…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6263640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21538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3831336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— це alias,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версія: сьогодні один образ, завтра інший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178040" y="1627632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2700">
            <a:solidFill>
              <a:srgbClr val="E06C6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06640" y="1755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342C"/>
                </a:solidFill>
              </a:rPr>
              <a:t>✕  </a:t>
            </a:r>
            <a:pPr indent="0" marL="0">
              <a:buNone/>
            </a:pPr>
            <a:r>
              <a:rPr lang="en-US" sz="1600" b="1" dirty="0">
                <a:solidFill>
                  <a:srgbClr val="D0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node:latest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406640" y="2148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фіксує версію → ламає повторюваність, «раптово» падає на CI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178040" y="3200400"/>
            <a:ext cx="4434840" cy="1645920"/>
          </a:xfrm>
          <a:prstGeom prst="roundRect">
            <a:avLst>
              <a:gd name="adj" fmla="val 5556"/>
            </a:avLst>
          </a:prstGeom>
          <a:solidFill>
            <a:srgbClr val="EEF9F0"/>
          </a:solidFill>
          <a:ln w="12700">
            <a:solidFill>
              <a:srgbClr val="46A0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06640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D3C"/>
                </a:solidFill>
              </a:rPr>
              <a:t>✓  </a:t>
            </a:r>
            <a:pPr indent="0" marL="0">
              <a:buNone/>
            </a:pPr>
            <a:r>
              <a:rPr lang="en-US" sz="1600" b="1" dirty="0">
                <a:solidFill>
                  <a:srgbClr val="1E7D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node:20-alpine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406640" y="373075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Пінимо конкретну версію → однакова збірка скрізь. Так само nginx:1.25-alpine.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БУДІВЕЛЬНІ БЛОКИ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Dockerfile: як збирається image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554480"/>
            <a:ext cx="5989320" cy="3566160"/>
          </a:xfrm>
          <a:prstGeom prst="roundRect">
            <a:avLst>
              <a:gd name="adj" fmla="val 2564"/>
            </a:avLst>
          </a:prstGeom>
          <a:solidFill>
            <a:srgbClr val="F6F8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554480"/>
            <a:ext cx="5989320" cy="384048"/>
          </a:xfrm>
          <a:prstGeom prst="roundRect">
            <a:avLst>
              <a:gd name="adj" fmla="val 23810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1810512"/>
            <a:ext cx="5989320" cy="128016"/>
          </a:xfrm>
          <a:prstGeom prst="rect">
            <a:avLst/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1691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7"/>
          <p:cNvSpPr/>
          <p:nvPr/>
        </p:nvSpPr>
        <p:spPr>
          <a:xfrm>
            <a:off x="969264" y="1691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8"/>
          <p:cNvSpPr/>
          <p:nvPr/>
        </p:nvSpPr>
        <p:spPr>
          <a:xfrm>
            <a:off x="1207008" y="1691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9"/>
          <p:cNvSpPr/>
          <p:nvPr/>
        </p:nvSpPr>
        <p:spPr>
          <a:xfrm>
            <a:off x="1554480" y="15727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04672" y="2057400"/>
            <a:ext cx="5532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7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node:20-alpine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кеш: залежності окремо від коду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package*.json ./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ci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7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"node"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7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"server.js"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858000" y="16002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40880" y="17190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549640" y="1600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образ, з якого стартуємо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2496312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40880" y="26151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549640" y="24963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робоча директорія всередині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3392424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40880" y="35112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+ RUN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549640" y="33924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ставимо залежності — цей шар кешується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0" y="4288536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40880" y="4407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549640" y="428853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команда, що запускає контейнер</a:t>
            </a:r>
            <a:endParaRPr lang="en-US" sz="12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Порти: як зайти в контейнер ззовні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00200"/>
            <a:ext cx="6126480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984248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00200"/>
            <a:ext cx="5440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слухає порт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контейнера (container port)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715768"/>
            <a:ext cx="6126480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099816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715768"/>
            <a:ext cx="5440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ізолює мережу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ззовні порт не видно без явного проброса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6126480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21538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3831336"/>
            <a:ext cx="5440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Проброс: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hostPort:containerPort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040880" y="1691640"/>
            <a:ext cx="4572000" cy="3108960"/>
          </a:xfrm>
          <a:prstGeom prst="roundRect">
            <a:avLst>
              <a:gd name="adj" fmla="val 3529"/>
            </a:avLst>
          </a:prstGeom>
          <a:solidFill>
            <a:srgbClr val="0A1E3F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B2A57"/>
          </a:solidFill>
          <a:ln w="12700">
            <a:solidFill>
              <a:srgbClr val="3A6AA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31520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localhost:3001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50976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2315F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5097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50976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:3001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09828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731520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3001:3001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315200" y="3703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-p сервіс слухає всередині, але зовні ви його не бачите — типова причина «не працює Docker».</a:t>
            </a:r>
            <a:endParaRPr lang="en-US" sz="12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Базові команди Docker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554480"/>
            <a:ext cx="11064240" cy="3611880"/>
          </a:xfrm>
          <a:prstGeom prst="roundRect">
            <a:avLst>
              <a:gd name="adj" fmla="val 2532"/>
            </a:avLst>
          </a:prstGeom>
          <a:solidFill>
            <a:srgbClr val="F6F8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554480"/>
            <a:ext cx="11064240" cy="384048"/>
          </a:xfrm>
          <a:prstGeom prst="roundRect">
            <a:avLst>
              <a:gd name="adj" fmla="val 23810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1810512"/>
            <a:ext cx="11064240" cy="128016"/>
          </a:xfrm>
          <a:prstGeom prst="rect">
            <a:avLst/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1691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7"/>
          <p:cNvSpPr/>
          <p:nvPr/>
        </p:nvSpPr>
        <p:spPr>
          <a:xfrm>
            <a:off x="969264" y="1691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8"/>
          <p:cNvSpPr/>
          <p:nvPr/>
        </p:nvSpPr>
        <p:spPr>
          <a:xfrm>
            <a:off x="1207008" y="1691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9"/>
          <p:cNvSpPr/>
          <p:nvPr/>
        </p:nvSpPr>
        <p:spPr>
          <a:xfrm>
            <a:off x="1554480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вистачає на 80% задач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04672" y="2057400"/>
            <a:ext cx="10607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-t quote-api:1.0 .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зібрати image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--rm -p 3001:3001 quote-api:1.0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запустити container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# хто зараз працює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-f &lt;container&gt;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логи (головний дебаг)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-it &lt;container&gt; sh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зайти всередину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Env-змінні: конфіг без хардкоду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554480"/>
            <a:ext cx="6126480" cy="3200400"/>
          </a:xfrm>
          <a:prstGeom prst="roundRect">
            <a:avLst>
              <a:gd name="adj" fmla="val 2857"/>
            </a:avLst>
          </a:prstGeom>
          <a:solidFill>
            <a:srgbClr val="F6F8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554480"/>
            <a:ext cx="6126480" cy="384048"/>
          </a:xfrm>
          <a:prstGeom prst="roundRect">
            <a:avLst>
              <a:gd name="adj" fmla="val 23810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1810512"/>
            <a:ext cx="6126480" cy="128016"/>
          </a:xfrm>
          <a:prstGeom prst="rect">
            <a:avLst/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1691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7"/>
          <p:cNvSpPr/>
          <p:nvPr/>
        </p:nvSpPr>
        <p:spPr>
          <a:xfrm>
            <a:off x="969264" y="1691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8"/>
          <p:cNvSpPr/>
          <p:nvPr/>
        </p:nvSpPr>
        <p:spPr>
          <a:xfrm>
            <a:off x="1207008" y="1691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9"/>
          <p:cNvSpPr/>
          <p:nvPr/>
        </p:nvSpPr>
        <p:spPr>
          <a:xfrm>
            <a:off x="1554480" y="1572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04672" y="20574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--rm \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3001:3001 \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52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API_TOKEN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7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=supersecret \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quote-api:1.0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або цілим файлом: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--env-file .env ...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949440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50608" y="202082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7" name="Text 13"/>
          <p:cNvSpPr/>
          <p:nvPr/>
        </p:nvSpPr>
        <p:spPr>
          <a:xfrm>
            <a:off x="7452360" y="16002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Передаємо конфіг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-e KEY=value або --env-file .env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949440" y="27889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50608" y="320954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0" name="Text 16"/>
          <p:cNvSpPr/>
          <p:nvPr/>
        </p:nvSpPr>
        <p:spPr>
          <a:xfrm>
            <a:off x="7452360" y="27889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читає env у runtime: process.env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949440" y="397764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50608" y="439826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3" name="Text 19"/>
          <p:cNvSpPr/>
          <p:nvPr/>
        </p:nvSpPr>
        <p:spPr>
          <a:xfrm>
            <a:off x="7452360" y="39776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нюанс: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бере env на build-step (напр. Vite)</a:t>
            </a:r>
            <a:endParaRPr lang="en-US" sz="14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Volumes: де «живуть» дані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6172200" cy="1005840"/>
          </a:xfrm>
          <a:prstGeom prst="roundRect">
            <a:avLst>
              <a:gd name="adj" fmla="val 727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206654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45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одноразовий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перестворили без volume → дані зникли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852928"/>
            <a:ext cx="6172200" cy="1005840"/>
          </a:xfrm>
          <a:prstGeom prst="roundRect">
            <a:avLst>
              <a:gd name="adj" fmla="val 7273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273552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85292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=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живуть окремо від контейнера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0050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496E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2394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9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68096" y="43708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сам керує сховищем. Типово для БД у проді.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703320" y="379476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904488" y="40050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496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123944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17720" y="39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3922776" y="43708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з хоста монтується всередину. Зручно для dev.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040880" y="164592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0A1E3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965960"/>
            <a:ext cx="1188720" cy="11887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6948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Немає volume → немає даних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7269480" y="3749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Перестворив контейнер з базою без volume — дані пропали. У проді для БД майже завжди volume або managed DB.</a:t>
            </a:r>
            <a:endParaRPr lang="en-US" sz="13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одного docker run мало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проєкт — це не один контейнер: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240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481328" y="245059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496E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2587752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3337560" y="2240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270248" y="245059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496E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58775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33756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126480" y="2240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059168" y="245059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496E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2587752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2648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8915400" y="2240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9848088" y="245059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496E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8" y="2587752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91540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/ redis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49808" y="437540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6" name="Text 18"/>
          <p:cNvSpPr/>
          <p:nvPr/>
        </p:nvSpPr>
        <p:spPr>
          <a:xfrm>
            <a:off x="1051560" y="397764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Ручний запуск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кожного контейнера швидко стає хаосом: порти, env, порядок старту</a:t>
            </a:r>
            <a:endParaRPr lang="en-US" sz="1450" dirty="0"/>
          </a:p>
        </p:txBody>
      </p:sp>
      <p:sp>
        <p:nvSpPr>
          <p:cNvPr id="27" name="Shape 19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49808" y="551840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9" name="Text 21"/>
          <p:cNvSpPr/>
          <p:nvPr/>
        </p:nvSpPr>
        <p:spPr>
          <a:xfrm>
            <a:off x="1051560" y="512064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Потрібен простий orchestration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щоб описати всю систему в одному місці. Це Docker Compose.</a:t>
            </a:r>
            <a:endParaRPr lang="en-US" sz="14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Compose: що це й навіщо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554480"/>
            <a:ext cx="6172200" cy="3566160"/>
          </a:xfrm>
          <a:prstGeom prst="roundRect">
            <a:avLst>
              <a:gd name="adj" fmla="val 2564"/>
            </a:avLst>
          </a:prstGeom>
          <a:solidFill>
            <a:srgbClr val="F6F8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554480"/>
            <a:ext cx="6172200" cy="384048"/>
          </a:xfrm>
          <a:prstGeom prst="roundRect">
            <a:avLst>
              <a:gd name="adj" fmla="val 23810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1810512"/>
            <a:ext cx="6172200" cy="128016"/>
          </a:xfrm>
          <a:prstGeom prst="rect">
            <a:avLst/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1691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7"/>
          <p:cNvSpPr/>
          <p:nvPr/>
        </p:nvSpPr>
        <p:spPr>
          <a:xfrm>
            <a:off x="969264" y="1691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8"/>
          <p:cNvSpPr/>
          <p:nvPr/>
        </p:nvSpPr>
        <p:spPr>
          <a:xfrm>
            <a:off x="1207008" y="1691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9"/>
          <p:cNvSpPr/>
          <p:nvPr/>
        </p:nvSpPr>
        <p:spPr>
          <a:xfrm>
            <a:off x="1554480" y="1572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04672" y="2057400"/>
            <a:ext cx="5715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2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./backend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7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"3001:3001"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API_TOKEN: supersecret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2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./frontend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7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"5173:5173"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995160" y="160020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96328" y="204368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YAML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сервіси, порти, env, мережі описані декларативно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995160" y="2834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96328" y="327812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0" y="28346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запуск: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підіймає весь проєкт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995160" y="406908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96328" y="451256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3" name="Text 19"/>
          <p:cNvSpPr/>
          <p:nvPr/>
        </p:nvSpPr>
        <p:spPr>
          <a:xfrm>
            <a:off x="7498080" y="40690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комплекті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вбудована мережа, залежності, повторюваність</a:t>
            </a:r>
            <a:endParaRPr lang="en-US" sz="14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 networking: імена сервісів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617220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208940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4592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сервіси бачать одне одного по імені: http://backend:3001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898648"/>
            <a:ext cx="617220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342132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89864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Ніяких ручних IP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дає DNS по назві сервісу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51376"/>
            <a:ext cx="617220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594860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4151376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Ззовні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через localhost:port, якщо порт проброшено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040880" y="1737360"/>
            <a:ext cx="4572000" cy="3017520"/>
          </a:xfrm>
          <a:prstGeom prst="roundRect">
            <a:avLst>
              <a:gd name="adj" fmla="val 3636"/>
            </a:avLst>
          </a:prstGeom>
          <a:solidFill>
            <a:srgbClr val="0A1E3F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0" y="22860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2315F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0" y="2450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601200" y="22860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2315F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01200" y="2450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9006840" y="23774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7315200" y="3383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http://backend:3001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315200" y="3931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web звертається до backend по DNS-імені — IP шукати не треба.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vs VM та підтримка ОС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00200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204368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0020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 ділять kernel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хостом — тому на Linux Docker працює нативно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834640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27812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83464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Docker Desktop (VM / WSL2), звідси нюанси з FS та швидкістю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51256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406908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потрібна,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треба інший kernel, сильна ізоляція чи OS-level вимоги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223760" y="1645920"/>
            <a:ext cx="4389120" cy="960120"/>
          </a:xfrm>
          <a:prstGeom prst="roundRect">
            <a:avLst>
              <a:gd name="adj" fmla="val 8571"/>
            </a:avLst>
          </a:prstGeom>
          <a:solidFill>
            <a:srgbClr val="EEF9F0"/>
          </a:solidFill>
          <a:ln w="12700">
            <a:solidFill>
              <a:srgbClr val="46A0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60920" y="1645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863840" y="1773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images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863840" y="21214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потребують Linux kernel — рідний сценарій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223760" y="2743200"/>
            <a:ext cx="4389120" cy="960120"/>
          </a:xfrm>
          <a:prstGeom prst="roundRect">
            <a:avLst>
              <a:gd name="adj" fmla="val 8571"/>
            </a:avLst>
          </a:prstGeom>
          <a:solidFill>
            <a:srgbClr val="EEF9F0"/>
          </a:solidFill>
          <a:ln w="12700">
            <a:solidFill>
              <a:srgbClr val="46A0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60920" y="27432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863840" y="28712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containers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863840" y="3218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існують, але потребують Windows kernel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223760" y="3840480"/>
            <a:ext cx="4389120" cy="960120"/>
          </a:xfrm>
          <a:prstGeom prst="roundRect">
            <a:avLst>
              <a:gd name="adj" fmla="val 8571"/>
            </a:avLst>
          </a:prstGeom>
          <a:solidFill>
            <a:srgbClr val="FFF0F0"/>
          </a:solidFill>
          <a:ln w="12700">
            <a:solidFill>
              <a:srgbClr val="E06C6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60920" y="38404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0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7863840" y="39684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як контейнер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863840" y="43159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запустити: Apple не дає kernel для цього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вирішує не все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2089404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64592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«виправляє»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баги, архітектуру й security автоматично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898648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3342132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2898648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заміняє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моніторинг і production-orchestration (k8s тощо)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51376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4594860"/>
            <a:ext cx="164592" cy="164592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4151376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Іноді зайвий —  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маленьких скриптів без залежностей це лише ускладнення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086600" y="1645920"/>
            <a:ext cx="4526280" cy="3246120"/>
          </a:xfrm>
          <a:prstGeom prst="roundRect">
            <a:avLst>
              <a:gd name="adj" fmla="val 3380"/>
            </a:avLst>
          </a:prstGeom>
          <a:solidFill>
            <a:srgbClr val="0A1E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965960"/>
            <a:ext cx="1097280" cy="10972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0" y="3200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Повторюваність ≠ якість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315200" y="37033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робить запуск повторюваним, але не робить код якісним. Це інструмент, а не срібна куля.</a:t>
            </a:r>
            <a:endParaRPr lang="en-US" sz="13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ЛАМАЄТЬСЯ НАЙЧАСТІШЕ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Типові помилки новачків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965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39696"/>
            <a:ext cx="475488" cy="47548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77240" y="1965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0342C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139696"/>
            <a:ext cx="475488" cy="4754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8308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Плутанина портів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783080" y="24048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port проти container port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400800" y="1965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2139696"/>
            <a:ext cx="475488" cy="47548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400800" y="1965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0342C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139696"/>
            <a:ext cx="475488" cy="4754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0664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Неправильний URL між сервісами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7406640" y="24048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замість імені backend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548640" y="32918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777240" y="35661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3739896"/>
            <a:ext cx="475488" cy="47548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77240" y="35661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0342C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3739896"/>
            <a:ext cx="475488" cy="4754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783080" y="3547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не в той момент</a:t>
            </a:r>
            <a:endParaRPr lang="en-US" sz="1550" dirty="0"/>
          </a:p>
        </p:txBody>
      </p:sp>
      <p:sp>
        <p:nvSpPr>
          <p:cNvPr id="27" name="Text 17"/>
          <p:cNvSpPr/>
          <p:nvPr/>
        </p:nvSpPr>
        <p:spPr>
          <a:xfrm>
            <a:off x="1783080" y="40050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фронтенд-змінні потрібні на build-time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6172200" y="32918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400800" y="35661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4536" y="3739896"/>
            <a:ext cx="475488" cy="475488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400800" y="35661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0342C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4536" y="3739896"/>
            <a:ext cx="475488" cy="47548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406640" y="3547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дивляться в logs</a:t>
            </a:r>
            <a:endParaRPr lang="en-US" sz="1550" dirty="0"/>
          </a:p>
        </p:txBody>
      </p:sp>
      <p:sp>
        <p:nvSpPr>
          <p:cNvPr id="34" name="Text 22"/>
          <p:cNvSpPr/>
          <p:nvPr/>
        </p:nvSpPr>
        <p:spPr>
          <a:xfrm>
            <a:off x="7406640" y="40050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це головний інструмент дебагу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90% проблем Docker — це порти, мережа, env і дебаг.</a:t>
            </a:r>
            <a:endParaRPr lang="en-US" sz="15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38" name="Text 2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412480" y="4023360"/>
            <a:ext cx="402336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96ED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014984"/>
            <a:ext cx="429768" cy="4297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74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— ПРАКТИКА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828800" y="1097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побачимо на демо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822960" y="228600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0B2A57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51560" y="2569464"/>
            <a:ext cx="256032" cy="256032"/>
          </a:xfrm>
          <a:prstGeom prst="ellipse">
            <a:avLst/>
          </a:prstGeom>
          <a:solidFill>
            <a:srgbClr val="0DB7ED"/>
          </a:solidFill>
          <a:ln/>
        </p:spPr>
      </p:sp>
      <p:sp>
        <p:nvSpPr>
          <p:cNvPr id="10" name="Text 6"/>
          <p:cNvSpPr/>
          <p:nvPr/>
        </p:nvSpPr>
        <p:spPr>
          <a:xfrm>
            <a:off x="1508760" y="2286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сервіси  —  </a:t>
            </a:r>
            <a:pPr indent="0" marL="0">
              <a:buNone/>
            </a:pPr>
            <a:r>
              <a:rPr lang="en-US" sz="14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+ Express API у контейнерах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22960" y="3218688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0B2A57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51560" y="3502152"/>
            <a:ext cx="256032" cy="256032"/>
          </a:xfrm>
          <a:prstGeom prst="ellipse">
            <a:avLst/>
          </a:prstGeom>
          <a:solidFill>
            <a:srgbClr val="0DB7ED"/>
          </a:solidFill>
          <a:ln/>
        </p:spPr>
      </p:sp>
      <p:sp>
        <p:nvSpPr>
          <p:cNvPr id="13" name="Text 9"/>
          <p:cNvSpPr/>
          <p:nvPr/>
        </p:nvSpPr>
        <p:spPr>
          <a:xfrm>
            <a:off x="1508760" y="321868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token  —  </a:t>
            </a:r>
            <a:pPr indent="0" marL="0">
              <a:buNone/>
            </a:pPr>
            <a:r>
              <a:rPr lang="en-US" sz="14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читає token з env-змінної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22960" y="4151376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0B2A57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" y="4434840"/>
            <a:ext cx="256032" cy="256032"/>
          </a:xfrm>
          <a:prstGeom prst="ellipse">
            <a:avLst/>
          </a:prstGeom>
          <a:solidFill>
            <a:srgbClr val="0DB7ED"/>
          </a:solidFill>
          <a:ln/>
        </p:spPr>
      </p:sp>
      <p:sp>
        <p:nvSpPr>
          <p:cNvPr id="16" name="Text 12"/>
          <p:cNvSpPr/>
          <p:nvPr/>
        </p:nvSpPr>
        <p:spPr>
          <a:xfrm>
            <a:off x="1508760" y="415137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 —  </a:t>
            </a:r>
            <a:pPr indent="0" marL="0">
              <a:buNone/>
            </a:pPr>
            <a:r>
              <a:rPr lang="en-US" sz="14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підіймає все разом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822960" y="5084064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0B2A57"/>
          </a:solidFill>
          <a:ln w="12700">
            <a:solidFill>
              <a:srgbClr val="27508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51560" y="5367528"/>
            <a:ext cx="256032" cy="256032"/>
          </a:xfrm>
          <a:prstGeom prst="ellipse">
            <a:avLst/>
          </a:prstGeom>
          <a:solidFill>
            <a:srgbClr val="0DB7ED"/>
          </a:solidFill>
          <a:ln/>
        </p:spPr>
      </p:sp>
      <p:sp>
        <p:nvSpPr>
          <p:cNvPr id="19" name="Text 15"/>
          <p:cNvSpPr/>
          <p:nvPr/>
        </p:nvSpPr>
        <p:spPr>
          <a:xfrm>
            <a:off x="1508760" y="508406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Сервіси бачать одне одного  —  </a:t>
            </a:r>
            <a:pPr indent="0" marL="0">
              <a:buNone/>
            </a:pPr>
            <a:r>
              <a:rPr lang="en-US" sz="145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кличе API по імені сервісу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22960" y="6080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Мінімальна система, як у реальному проєкті — і вся піднімається однією командою.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88575" y="489204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2496E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03504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1328" y="4572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481328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Резюме перед практикою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47088" y="20116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496ED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2167128"/>
            <a:ext cx="512064" cy="5120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</a:t>
            </a:r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build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3152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397764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438912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687568" y="20116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496E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167128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</a:t>
            </a:r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+ ports + env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57200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81812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3"/>
          <p:cNvSpPr/>
          <p:nvPr/>
        </p:nvSpPr>
        <p:spPr>
          <a:xfrm>
            <a:off x="822960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5F8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528048" y="20116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496E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216712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1248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</a:t>
            </a:r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up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841248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A1E3F"/>
          </a:solidFill>
          <a:ln/>
        </p:spPr>
      </p:sp>
      <p:sp>
        <p:nvSpPr>
          <p:cNvPr id="25" name="Text 18"/>
          <p:cNvSpPr/>
          <p:nvPr/>
        </p:nvSpPr>
        <p:spPr>
          <a:xfrm>
            <a:off x="822960" y="4343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вся картина. Далі — практика: запустимо все руками й побачимо, як шматки складаються в систему.</a:t>
            </a:r>
            <a:endParaRPr lang="en-US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548640" y="638251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101 · Вступ у сучасний Docker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4023360" y="1005840"/>
            <a:ext cx="41148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42519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Питання?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0" y="5257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Переходимо до практики →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2026-07-21T17:50:01Z</dcterms:created>
  <dcterms:modified xsi:type="dcterms:W3CDTF">2026-07-21T17:50:01Z</dcterms:modified>
</cp:coreProperties>
</file>